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56" r:id="rId5"/>
    <p:sldId id="1509" r:id="rId6"/>
    <p:sldId id="1510" r:id="rId7"/>
  </p:sldIdLst>
  <p:sldSz cx="9144000" cy="6858000" type="screen4x3"/>
  <p:notesSz cx="6797675" cy="9928225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7" userDrawn="1">
          <p15:clr>
            <a:srgbClr val="A4A3A4"/>
          </p15:clr>
        </p15:guide>
        <p15:guide id="2" pos="238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85B"/>
    <a:srgbClr val="006F70"/>
    <a:srgbClr val="A20000"/>
    <a:srgbClr val="009EDE"/>
    <a:srgbClr val="FEDADB"/>
    <a:srgbClr val="B40408"/>
    <a:srgbClr val="FB3136"/>
    <a:srgbClr val="FD9194"/>
    <a:srgbClr val="FEB8BA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Styl jasny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23" autoAdjust="0"/>
    <p:restoredTop sz="90385" autoAdjust="0"/>
  </p:normalViewPr>
  <p:slideViewPr>
    <p:cSldViewPr>
      <p:cViewPr varScale="1">
        <p:scale>
          <a:sx n="144" d="100"/>
          <a:sy n="144" d="100"/>
        </p:scale>
        <p:origin x="2220" y="114"/>
      </p:cViewPr>
      <p:guideLst>
        <p:guide orient="horz" pos="1207"/>
        <p:guide pos="2381"/>
      </p:guideLst>
    </p:cSldViewPr>
  </p:slideViewPr>
  <p:outlineViewPr>
    <p:cViewPr>
      <p:scale>
        <a:sx n="33" d="100"/>
        <a:sy n="33" d="100"/>
      </p:scale>
      <p:origin x="0" y="-399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3564"/>
    </p:cViewPr>
  </p:sorterViewPr>
  <p:notesViewPr>
    <p:cSldViewPr>
      <p:cViewPr varScale="1">
        <p:scale>
          <a:sx n="53" d="100"/>
          <a:sy n="53" d="100"/>
        </p:scale>
        <p:origin x="2648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A94130-6735-4B43-87D5-4123433B05DB}" type="datetimeFigureOut">
              <a:rPr lang="pl-PL" smtClean="0"/>
              <a:t>1.10.2026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0F8FC7-E6E2-414F-B492-486CCA0809A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647598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786397-0F32-42DE-8966-B15594BD9DE4}" type="datetimeFigureOut">
              <a:rPr lang="pl-PL" smtClean="0"/>
              <a:pPr/>
              <a:t>1.10.2026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CB5A67-8147-4C3C-A3DB-84B984DF5893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72939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CB5A67-8147-4C3C-A3DB-84B984DF5893}" type="slidenum">
              <a:rPr lang="pl-PL" smtClean="0"/>
              <a:pPr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18786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8CBE1-23C1-4A83-BE58-76AB555A74DB}" type="datetime1">
              <a:rPr lang="pl-PL" smtClean="0"/>
              <a:pPr/>
              <a:t>1.10.2026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3DC9-0B0E-4E73-9D5C-BE97E9BFAC49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83728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FDE0A-CCC4-4886-AAEE-960459FEA4C3}" type="datetime1">
              <a:rPr lang="pl-PL" smtClean="0"/>
              <a:pPr/>
              <a:t>1.10.2026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3DC9-0B0E-4E73-9D5C-BE97E9BFAC49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15812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B624F-1E3E-4C12-8326-1D4D5933A677}" type="datetime1">
              <a:rPr lang="pl-PL" smtClean="0"/>
              <a:pPr/>
              <a:t>1.10.2026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3DC9-0B0E-4E73-9D5C-BE97E9BFAC49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81508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2A2E6-EA41-4FCF-ABBE-B910CD19BA5B}" type="datetime1">
              <a:rPr lang="pl-PL" smtClean="0"/>
              <a:pPr/>
              <a:t>1.10.2026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3DC9-0B0E-4E73-9D5C-BE97E9BFAC49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62836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2ECD-CAE3-4E08-8C7A-901D0B92AE11}" type="datetime1">
              <a:rPr lang="pl-PL" smtClean="0"/>
              <a:pPr/>
              <a:t>1.10.2026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3DC9-0B0E-4E73-9D5C-BE97E9BFAC49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1923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902D9-B6D3-43B4-A645-CCD2CB37214C}" type="datetime1">
              <a:rPr lang="pl-PL" smtClean="0"/>
              <a:pPr/>
              <a:t>1.10.2026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3DC9-0B0E-4E73-9D5C-BE97E9BFAC49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4228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5D3BD-7CA4-4E0B-AD6F-40720CAF5EC1}" type="datetime1">
              <a:rPr lang="pl-PL" smtClean="0"/>
              <a:pPr/>
              <a:t>1.10.2026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3DC9-0B0E-4E73-9D5C-BE97E9BFAC49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89160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1D21-A768-41B6-A400-2BED5B469813}" type="datetime1">
              <a:rPr lang="pl-PL" smtClean="0"/>
              <a:pPr/>
              <a:t>1.10.2026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3DC9-0B0E-4E73-9D5C-BE97E9BFAC49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06705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28D86-B8A4-491B-9136-FE4B2B45DFFA}" type="datetime1">
              <a:rPr lang="pl-PL" smtClean="0"/>
              <a:pPr/>
              <a:t>1.10.2026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3DC9-0B0E-4E73-9D5C-BE97E9BFAC49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87014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742A3-276F-4A4C-B596-BA65F79E8E6E}" type="datetime1">
              <a:rPr lang="pl-PL" smtClean="0"/>
              <a:pPr/>
              <a:t>1.10.2026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3DC9-0B0E-4E73-9D5C-BE97E9BFAC49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08981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69D68-CF63-438E-89C4-4AA4618FDA8E}" type="datetime1">
              <a:rPr lang="pl-PL" smtClean="0"/>
              <a:pPr/>
              <a:t>1.10.2026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3DC9-0B0E-4E73-9D5C-BE97E9BFAC49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7980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6D8E01-BC0A-4A02-A576-150042899FC1}" type="datetime1">
              <a:rPr lang="pl-PL" smtClean="0"/>
              <a:pPr/>
              <a:t>1.10.2026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703DC9-0B0E-4E73-9D5C-BE97E9BFAC49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78608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Prostokąt 3"/>
          <p:cNvSpPr/>
          <p:nvPr/>
        </p:nvSpPr>
        <p:spPr>
          <a:xfrm>
            <a:off x="-13320" y="0"/>
            <a:ext cx="9144000" cy="6858000"/>
          </a:xfrm>
          <a:prstGeom prst="rect">
            <a:avLst/>
          </a:prstGeom>
          <a:solidFill>
            <a:srgbClr val="006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cxnSp>
        <p:nvCxnSpPr>
          <p:cNvPr id="7" name="Łącznik prostoliniowy 6"/>
          <p:cNvCxnSpPr/>
          <p:nvPr/>
        </p:nvCxnSpPr>
        <p:spPr>
          <a:xfrm>
            <a:off x="395536" y="1340768"/>
            <a:ext cx="849694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Łącznik prostoliniowy 9"/>
          <p:cNvCxnSpPr/>
          <p:nvPr/>
        </p:nvCxnSpPr>
        <p:spPr>
          <a:xfrm>
            <a:off x="323528" y="6165304"/>
            <a:ext cx="849694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Prostokąt 10"/>
          <p:cNvSpPr/>
          <p:nvPr/>
        </p:nvSpPr>
        <p:spPr>
          <a:xfrm>
            <a:off x="818391" y="2576220"/>
            <a:ext cx="7870690" cy="1370579"/>
          </a:xfrm>
          <a:prstGeom prst="rect">
            <a:avLst/>
          </a:prstGeom>
          <a:solidFill>
            <a:schemeClr val="bg1"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2" name="pole tekstowe 11"/>
          <p:cNvSpPr txBox="1"/>
          <p:nvPr/>
        </p:nvSpPr>
        <p:spPr>
          <a:xfrm>
            <a:off x="973554" y="2909915"/>
            <a:ext cx="76363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Ćwiczenia 2 </a:t>
            </a:r>
            <a:endParaRPr lang="pl-PL" sz="4400" b="1" dirty="0">
              <a:solidFill>
                <a:srgbClr val="0068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ymbol zastępczy numeru slajdu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03DC9-0B0E-4E73-9D5C-BE97E9BFAC49}" type="slidenum">
              <a:rPr lang="pl-PL" sz="1800" b="1">
                <a:solidFill>
                  <a:srgbClr val="00685B"/>
                </a:solidFill>
              </a:rPr>
              <a:pPr/>
              <a:t>1</a:t>
            </a:fld>
            <a:endParaRPr lang="pl-PL" sz="1800" b="1" dirty="0">
              <a:solidFill>
                <a:srgbClr val="00685B"/>
              </a:solidFill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EB291C54-E187-4A2D-8C4C-686C556C5A55}"/>
              </a:ext>
            </a:extLst>
          </p:cNvPr>
          <p:cNvSpPr txBox="1">
            <a:spLocks/>
          </p:cNvSpPr>
          <p:nvPr/>
        </p:nvSpPr>
        <p:spPr>
          <a:xfrm>
            <a:off x="611560" y="4657742"/>
            <a:ext cx="7751419" cy="16423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pl-PL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Dr hab. Łukasz Kurowski, prof. ucz.</a:t>
            </a:r>
            <a:br>
              <a:rPr lang="pl-PL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pl-PL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Wydział Geografii i Studiów Regionalnych</a:t>
            </a:r>
          </a:p>
        </p:txBody>
      </p:sp>
      <p:pic>
        <p:nvPicPr>
          <p:cNvPr id="6" name="Picture 2" descr="System Identyfikacji Wizualnej – Wydział Geografii i Studiów Regionalnych UW">
            <a:extLst>
              <a:ext uri="{FF2B5EF4-FFF2-40B4-BE49-F238E27FC236}">
                <a16:creationId xmlns:a16="http://schemas.microsoft.com/office/drawing/2014/main" id="{DC6CA117-EE6F-5E01-602D-F3B800F6A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391" y="72008"/>
            <a:ext cx="897564" cy="1196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0877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75C90-27D1-5E3C-6979-F3FE3965A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Łącznik prostoliniowy 6">
            <a:extLst>
              <a:ext uri="{FF2B5EF4-FFF2-40B4-BE49-F238E27FC236}">
                <a16:creationId xmlns:a16="http://schemas.microsoft.com/office/drawing/2014/main" id="{79DEA72A-47BA-C761-C7DD-1BB1F9851843}"/>
              </a:ext>
            </a:extLst>
          </p:cNvPr>
          <p:cNvSpPr/>
          <p:nvPr/>
        </p:nvSpPr>
        <p:spPr>
          <a:xfrm>
            <a:off x="395535" y="1340767"/>
            <a:ext cx="8496946" cy="1"/>
          </a:xfrm>
          <a:prstGeom prst="line">
            <a:avLst/>
          </a:prstGeom>
          <a:ln w="25400">
            <a:solidFill>
              <a:srgbClr val="00685B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027" name="Łącznik prostoliniowy 9">
            <a:extLst>
              <a:ext uri="{FF2B5EF4-FFF2-40B4-BE49-F238E27FC236}">
                <a16:creationId xmlns:a16="http://schemas.microsoft.com/office/drawing/2014/main" id="{7C101FF6-0365-A20D-80CA-E6B22091CE04}"/>
              </a:ext>
            </a:extLst>
          </p:cNvPr>
          <p:cNvSpPr/>
          <p:nvPr/>
        </p:nvSpPr>
        <p:spPr>
          <a:xfrm>
            <a:off x="323527" y="6332922"/>
            <a:ext cx="8496946" cy="1"/>
          </a:xfrm>
          <a:prstGeom prst="line">
            <a:avLst/>
          </a:prstGeom>
          <a:ln w="25400">
            <a:solidFill>
              <a:srgbClr val="00685B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029" name="pole tekstowe 7">
            <a:extLst>
              <a:ext uri="{FF2B5EF4-FFF2-40B4-BE49-F238E27FC236}">
                <a16:creationId xmlns:a16="http://schemas.microsoft.com/office/drawing/2014/main" id="{60FACF6C-AAAE-55BC-BFE7-FFCCA0DF139C}"/>
              </a:ext>
            </a:extLst>
          </p:cNvPr>
          <p:cNvSpPr txBox="1"/>
          <p:nvPr/>
        </p:nvSpPr>
        <p:spPr>
          <a:xfrm>
            <a:off x="3900760" y="471892"/>
            <a:ext cx="4661089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2400" b="1">
                <a:solidFill>
                  <a:srgbClr val="00685B"/>
                </a:solidFill>
              </a:defRPr>
            </a:lvl1pPr>
          </a:lstStyle>
          <a:p>
            <a:r>
              <a:rPr lang="pl-PL" sz="3200" dirty="0"/>
              <a:t>Ćwiczenia 2</a:t>
            </a:r>
            <a:endParaRPr sz="3200" dirty="0"/>
          </a:p>
        </p:txBody>
      </p:sp>
      <p:sp>
        <p:nvSpPr>
          <p:cNvPr id="1030" name="Symbol zastępczy numeru slajdu 3">
            <a:extLst>
              <a:ext uri="{FF2B5EF4-FFF2-40B4-BE49-F238E27FC236}">
                <a16:creationId xmlns:a16="http://schemas.microsoft.com/office/drawing/2014/main" id="{D8066227-745B-F876-6D93-135380F0C832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561849" y="6501118"/>
            <a:ext cx="258624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fld id="{86CB4B4D-7CA3-9044-876B-883B54F8677D}" type="slidenum">
              <a:rPr lang="pl-PL" smtClean="0"/>
              <a:pPr/>
              <a:t>2</a:t>
            </a:fld>
            <a:endParaRPr/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D5AF9DB4-104C-32A7-8B95-814644BAA5AC}"/>
              </a:ext>
            </a:extLst>
          </p:cNvPr>
          <p:cNvSpPr txBox="1"/>
          <p:nvPr/>
        </p:nvSpPr>
        <p:spPr>
          <a:xfrm>
            <a:off x="539552" y="1544429"/>
            <a:ext cx="8280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Wypełnij tabelę podając wartość i stronę w raporcie. Użyj AI. Zweryfikuj, czy odpowiedzi AI są prawidłowe. 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CDC9C29E-1124-3ECB-8BE9-E68E606A4D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405091"/>
              </p:ext>
            </p:extLst>
          </p:nvPr>
        </p:nvGraphicFramePr>
        <p:xfrm>
          <a:off x="971600" y="2394421"/>
          <a:ext cx="7518242" cy="35417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8155">
                  <a:extLst>
                    <a:ext uri="{9D8B030D-6E8A-4147-A177-3AD203B41FA5}">
                      <a16:colId xmlns:a16="http://schemas.microsoft.com/office/drawing/2014/main" val="3238343576"/>
                    </a:ext>
                  </a:extLst>
                </a:gridCol>
                <a:gridCol w="2744875">
                  <a:extLst>
                    <a:ext uri="{9D8B030D-6E8A-4147-A177-3AD203B41FA5}">
                      <a16:colId xmlns:a16="http://schemas.microsoft.com/office/drawing/2014/main" val="2441244055"/>
                    </a:ext>
                  </a:extLst>
                </a:gridCol>
                <a:gridCol w="2115212">
                  <a:extLst>
                    <a:ext uri="{9D8B030D-6E8A-4147-A177-3AD203B41FA5}">
                      <a16:colId xmlns:a16="http://schemas.microsoft.com/office/drawing/2014/main" val="1961801919"/>
                    </a:ext>
                  </a:extLst>
                </a:gridCol>
              </a:tblGrid>
              <a:tr h="5059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160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Wskaźnik / zmienna</a:t>
                      </a:r>
                      <a:endParaRPr lang="pl-PL" sz="16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006F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160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KGHM – wartość (strona)</a:t>
                      </a:r>
                      <a:endParaRPr lang="pl-PL" sz="16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006F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160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PGE – wartość (strona)</a:t>
                      </a:r>
                      <a:endParaRPr lang="pl-PL" sz="16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006F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117383"/>
                  </a:ext>
                </a:extLst>
              </a:tr>
              <a:tr h="5059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60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GHG – </a:t>
                      </a:r>
                      <a:r>
                        <a:rPr lang="pl-PL" sz="160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Scope</a:t>
                      </a:r>
                      <a:r>
                        <a:rPr lang="pl-PL" sz="160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 (brutto)</a:t>
                      </a:r>
                      <a:endParaRPr lang="pl-PL" sz="16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006F7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fr-FR" sz="1600" b="0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fr-FR" sz="1600" b="0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64793556"/>
                  </a:ext>
                </a:extLst>
              </a:tr>
              <a:tr h="5059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60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GHG – </a:t>
                      </a:r>
                      <a:r>
                        <a:rPr lang="pl-PL" sz="160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Scope</a:t>
                      </a:r>
                      <a:r>
                        <a:rPr lang="pl-PL" sz="160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 (brutto)</a:t>
                      </a:r>
                      <a:endParaRPr lang="pl-PL" sz="16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006F7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l-PL" sz="1600" b="0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fr-FR" sz="1600" b="0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39986218"/>
                  </a:ext>
                </a:extLst>
              </a:tr>
              <a:tr h="5059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60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Całkowite zużycie energii</a:t>
                      </a:r>
                      <a:endParaRPr lang="pl-PL" sz="16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006F7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l-PL" sz="1600" b="0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l-PL" sz="1600" b="0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10244348"/>
                  </a:ext>
                </a:extLst>
              </a:tr>
              <a:tr h="5059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60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Udział OZE w zużyciu energii</a:t>
                      </a:r>
                      <a:endParaRPr lang="pl-PL" sz="16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006F7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l-PL" sz="1600" b="0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l-PL" sz="1600" b="0" i="0" u="none" strike="noStrike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88562842"/>
                  </a:ext>
                </a:extLst>
              </a:tr>
              <a:tr h="5059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60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Zużycie energii ze źródeł kopalnych</a:t>
                      </a:r>
                      <a:endParaRPr lang="pl-PL" sz="16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006F7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l-PL" sz="1600" b="0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l-PL" sz="1600" b="0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39392590"/>
                  </a:ext>
                </a:extLst>
              </a:tr>
              <a:tr h="5059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60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Całkowite zużycie/pobór wody</a:t>
                      </a:r>
                      <a:endParaRPr lang="pl-PL" sz="16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rgbClr val="006F7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l-PL" sz="1600" b="0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l-PL" sz="1600" b="0" i="0" u="none" strike="noStrike" dirty="0"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55749004"/>
                  </a:ext>
                </a:extLst>
              </a:tr>
            </a:tbl>
          </a:graphicData>
        </a:graphic>
      </p:graphicFrame>
      <p:pic>
        <p:nvPicPr>
          <p:cNvPr id="4" name="Picture 2" descr="System Identyfikacji Wizualnej – Wydział Geografii i Studiów Regionalnych UW">
            <a:extLst>
              <a:ext uri="{FF2B5EF4-FFF2-40B4-BE49-F238E27FC236}">
                <a16:creationId xmlns:a16="http://schemas.microsoft.com/office/drawing/2014/main" id="{8069736C-674D-C631-22C4-F00F36F0D8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994" y="99171"/>
            <a:ext cx="757674" cy="1010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149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51A0B-012D-B79E-08A9-3D3BC880D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Łącznik prostoliniowy 6">
            <a:extLst>
              <a:ext uri="{FF2B5EF4-FFF2-40B4-BE49-F238E27FC236}">
                <a16:creationId xmlns:a16="http://schemas.microsoft.com/office/drawing/2014/main" id="{A0BE65AB-7490-A6C9-9BE1-7872997B8A44}"/>
              </a:ext>
            </a:extLst>
          </p:cNvPr>
          <p:cNvSpPr/>
          <p:nvPr/>
        </p:nvSpPr>
        <p:spPr>
          <a:xfrm>
            <a:off x="395535" y="1340767"/>
            <a:ext cx="8496946" cy="1"/>
          </a:xfrm>
          <a:prstGeom prst="line">
            <a:avLst/>
          </a:prstGeom>
          <a:ln w="25400">
            <a:solidFill>
              <a:srgbClr val="00685B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027" name="Łącznik prostoliniowy 9">
            <a:extLst>
              <a:ext uri="{FF2B5EF4-FFF2-40B4-BE49-F238E27FC236}">
                <a16:creationId xmlns:a16="http://schemas.microsoft.com/office/drawing/2014/main" id="{ABB3687D-FA5F-E9F2-B438-274BC9F43894}"/>
              </a:ext>
            </a:extLst>
          </p:cNvPr>
          <p:cNvSpPr/>
          <p:nvPr/>
        </p:nvSpPr>
        <p:spPr>
          <a:xfrm>
            <a:off x="323527" y="6332922"/>
            <a:ext cx="8496946" cy="1"/>
          </a:xfrm>
          <a:prstGeom prst="line">
            <a:avLst/>
          </a:prstGeom>
          <a:ln w="25400">
            <a:solidFill>
              <a:srgbClr val="00685B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1029" name="pole tekstowe 7">
            <a:extLst>
              <a:ext uri="{FF2B5EF4-FFF2-40B4-BE49-F238E27FC236}">
                <a16:creationId xmlns:a16="http://schemas.microsoft.com/office/drawing/2014/main" id="{847FCD59-8114-4000-3436-2B2A8070E9C3}"/>
              </a:ext>
            </a:extLst>
          </p:cNvPr>
          <p:cNvSpPr txBox="1"/>
          <p:nvPr/>
        </p:nvSpPr>
        <p:spPr>
          <a:xfrm>
            <a:off x="3900760" y="471892"/>
            <a:ext cx="4661089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2400" b="1">
                <a:solidFill>
                  <a:srgbClr val="00685B"/>
                </a:solidFill>
              </a:defRPr>
            </a:lvl1pPr>
          </a:lstStyle>
          <a:p>
            <a:r>
              <a:rPr lang="pl-PL" sz="3200" dirty="0"/>
              <a:t>Ćwiczenia 2</a:t>
            </a:r>
            <a:endParaRPr sz="3200" dirty="0"/>
          </a:p>
        </p:txBody>
      </p:sp>
      <p:sp>
        <p:nvSpPr>
          <p:cNvPr id="1030" name="Symbol zastępczy numeru slajdu 3">
            <a:extLst>
              <a:ext uri="{FF2B5EF4-FFF2-40B4-BE49-F238E27FC236}">
                <a16:creationId xmlns:a16="http://schemas.microsoft.com/office/drawing/2014/main" id="{A41FB58A-AB7D-C3A6-A484-8E5955B6749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561849" y="6501118"/>
            <a:ext cx="258624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fld id="{86CB4B4D-7CA3-9044-876B-883B54F8677D}" type="slidenum">
              <a:rPr lang="pl-PL" smtClean="0"/>
              <a:pPr/>
              <a:t>3</a:t>
            </a:fld>
            <a:endParaRPr/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1B30A60E-F266-76E8-C3D3-F9A1BB50DF9D}"/>
              </a:ext>
            </a:extLst>
          </p:cNvPr>
          <p:cNvSpPr txBox="1"/>
          <p:nvPr/>
        </p:nvSpPr>
        <p:spPr>
          <a:xfrm>
            <a:off x="539552" y="1475252"/>
            <a:ext cx="828092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Zastanów się, czy banki powinny udzielać kredytów takim podmiotom?</a:t>
            </a:r>
          </a:p>
          <a:p>
            <a:pPr marL="342900" indent="-342900">
              <a:buFont typeface="+mj-lt"/>
              <a:buAutoNum type="arabicPeriod"/>
            </a:pPr>
            <a:endParaRPr lang="pl-PL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Oceń na podstawie opisów, który podmiot lepiej radzi sobie z obszarem opisanym w ESRS </a:t>
            </a:r>
            <a:r>
              <a:rPr lang="pl-PL" sz="2000">
                <a:latin typeface="Times New Roman" panose="02020603050405020304" pitchFamily="18" charset="0"/>
                <a:cs typeface="Times New Roman" panose="02020603050405020304" pitchFamily="18" charset="0"/>
              </a:rPr>
              <a:t>E1 oraz 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E4 (w skali od 0 – bardzo źle, do 10 – bardzo dobrze)?</a:t>
            </a:r>
          </a:p>
          <a:p>
            <a:pPr marL="342900" indent="-342900">
              <a:buFont typeface="+mj-lt"/>
              <a:buAutoNum type="arabicPeriod"/>
            </a:pPr>
            <a:endParaRPr lang="pl-PL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Celem ESG jest uzyskanie jak największej porównywalności raportów między przedsiębiorstwami – oceń, czy cel ten został osiągnięty?</a:t>
            </a:r>
          </a:p>
          <a:p>
            <a:pPr marL="342900" indent="-342900">
              <a:buFont typeface="+mj-lt"/>
              <a:buAutoNum type="arabicPeriod"/>
            </a:pPr>
            <a:endParaRPr lang="pl-PL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System Identyfikacji Wizualnej – Wydział Geografii i Studiów Regionalnych UW">
            <a:extLst>
              <a:ext uri="{FF2B5EF4-FFF2-40B4-BE49-F238E27FC236}">
                <a16:creationId xmlns:a16="http://schemas.microsoft.com/office/drawing/2014/main" id="{6348C365-C050-B66F-0207-BE091A282C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994" y="99171"/>
            <a:ext cx="757674" cy="1010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2207713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362BABBD2697940AC1DAF92327D3420" ma:contentTypeVersion="1" ma:contentTypeDescription="Utwórz nowy dokument." ma:contentTypeScope="" ma:versionID="b758795591d9adbbd5813f01d912e2ca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d5655aa40fd62c26d3cd695d3e5ffb0d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Planowana data rozpoczęcia" ma:internalName="PublishingStartDate">
      <xsd:simpleType>
        <xsd:restriction base="dms:Unknown"/>
      </xsd:simpleType>
    </xsd:element>
    <xsd:element name="PublishingExpirationDate" ma:index="9" nillable="true" ma:displayName="Planowana data zakończenia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395E0DF-605D-4BB9-A3AF-9FE2BF541820}">
  <ds:schemaRefs>
    <ds:schemaRef ds:uri="http://schemas.microsoft.com/sharepoint/v3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A7000E3-E568-4FCE-8A08-572A6470F89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FE7DC06-CBC1-4CED-BD69-EFC803AD93F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10587</TotalTime>
  <Words>156</Words>
  <Application>Microsoft Office PowerPoint</Application>
  <PresentationFormat>Pokaz na ekranie (4:3)</PresentationFormat>
  <Paragraphs>23</Paragraphs>
  <Slides>3</Slides>
  <Notes>1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</vt:i4>
      </vt:variant>
    </vt:vector>
  </HeadingPairs>
  <TitlesOfParts>
    <vt:vector size="8" baseType="lpstr">
      <vt:lpstr>Arial</vt:lpstr>
      <vt:lpstr>Calibri</vt:lpstr>
      <vt:lpstr>Open Sans</vt:lpstr>
      <vt:lpstr>Times New Roman</vt:lpstr>
      <vt:lpstr>Motyw pakietu Office</vt:lpstr>
      <vt:lpstr>Prezentacja programu PowerPoint</vt:lpstr>
      <vt:lpstr>Prezentacja programu PowerPoint</vt:lpstr>
      <vt:lpstr>Prezentacja programu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wzór prezentacji SGH - wariant 1</dc:title>
  <dc:creator>Maria KARAŚ</dc:creator>
  <cp:lastModifiedBy>Łukasz Kurowski</cp:lastModifiedBy>
  <cp:revision>820</cp:revision>
  <cp:lastPrinted>2016-05-06T11:20:28Z</cp:lastPrinted>
  <dcterms:created xsi:type="dcterms:W3CDTF">2016-02-10T17:09:21Z</dcterms:created>
  <dcterms:modified xsi:type="dcterms:W3CDTF">2026-10-01T10:51:33Z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0x010100C362BABBD2697940AC1DAF92327D3420</vt:lpwstr>
  </property>
</Properties>
</file>